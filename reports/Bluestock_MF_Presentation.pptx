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Introduce the scope: 4-year study of the Indian MF industry using AMFI public data. Key metrics to anchor the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stage. Explain why this analysis was commissioned and what gap it fills.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dataset. Emphasise that all 7 are from a single verified public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each stage briefly. Emphasise Parquet for restartability and the clean separation of concerns.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key growth metrics on one slide. SIP tripling is the headline story; folio doubling confirms breadth, not just depth.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charts on one slide. Millennial dominance + Banking/IT concentration + B30 progress are the three takeaways.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 on the three regime phases visible in the NAV chart. Fund 100025 outperforms through all three phases.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portfolio-relevant insights: low correlation supports multi-fund strategies; uniform SIP means advisors should focus on fund choice, not ticket size.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visual dashboard. Emphasise the liquid fund dominance — it's a key insight that surprises most audiences.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state-level evenness surprises most people. Punjab &gt; Maharashtra is counterintuitive and a great talking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5 most important findings and match each recommendation to its audience. Focus on the actionable takeaways.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Q&amp;A. Offer to walk through any specific finding in detail. Mention the GitHub repo for code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0D7377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286000"/>
            <a:ext cx="2743200" cy="2743200"/>
          </a:xfrm>
          <a:prstGeom prst="ellipse">
            <a:avLst/>
          </a:prstGeom>
          <a:solidFill>
            <a:srgbClr val="F4A261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Indian Mutual Fund Industry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Analysis &amp; Insights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2022 - 2025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306324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1546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26.12 Cr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7033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Folios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51760" y="306324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31546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₹31,002 Cr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651760" y="37033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SIP Record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306324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31546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₹63 L Cr+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46320" y="37033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AUM 2025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040880" y="306324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31546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Years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40880" y="37033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Period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AMFI India  |  Bluestock Fintech Capstone Program  |  June 2025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analysis matters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651760" cy="30175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1325880"/>
            <a:ext cx="640080" cy="64008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0574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56032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Indian MF industry grew rapidly post-COVID, but structured analytical insights on investor behaviour, fund performance, and geographic penetration remained fragmented.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463040"/>
            <a:ext cx="2651760" cy="30175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06240" y="1325880"/>
            <a:ext cx="640080" cy="64008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2" name="Text 10"/>
          <p:cNvSpPr/>
          <p:nvPr/>
        </p:nvSpPr>
        <p:spPr>
          <a:xfrm>
            <a:off x="420624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0" y="20574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256032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publicly available analysis combined AUM trends, SIP behaviour, demographic profiling, and NAV performance across a multi-year horizon.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1463040"/>
            <a:ext cx="2651760" cy="30175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40880" y="1325880"/>
            <a:ext cx="640080" cy="64008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35040" y="20574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Objective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256032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end-to-end ETL + analytics pipeline on AMFI data to surface actionable insights for AMCs, distributors, and regulators.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7091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Deliverables  |  5 Pipeline Stages  |  AMFI Public Data  |  Python + Power BI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 &amp; Coverage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datasets, 1 source — AMFI India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4475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651760" y="144475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035040" y="144475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98080" y="14447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801368"/>
            <a:ext cx="8412480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819656"/>
            <a:ext cx="2148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History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651760" y="1819656"/>
            <a:ext cx="3291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NAV per scheme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035040" y="1819656"/>
            <a:ext cx="1371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~4.8 M rows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498080" y="1819656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231136"/>
            <a:ext cx="841248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249424"/>
            <a:ext cx="2148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by Fund House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651760" y="2249424"/>
            <a:ext cx="3291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AUM per AMC &amp; category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035040" y="2249424"/>
            <a:ext cx="1371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~14,400 rows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498080" y="2249424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2660904"/>
            <a:ext cx="8412480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679192"/>
            <a:ext cx="2148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Inflows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651760" y="2679192"/>
            <a:ext cx="3291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monthly SIP data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035040" y="2679192"/>
            <a:ext cx="1371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~480 rows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498080" y="2679192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090672"/>
            <a:ext cx="841248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108960"/>
            <a:ext cx="2148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Folio Count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651760" y="3108960"/>
            <a:ext cx="3291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industry folios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035040" y="3108960"/>
            <a:ext cx="1371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~480 rows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498080" y="3108960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3520440"/>
            <a:ext cx="8412480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538728"/>
            <a:ext cx="2148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Demographics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651760" y="3538728"/>
            <a:ext cx="3291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Age-group &amp; state distribution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035040" y="3538728"/>
            <a:ext cx="1371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~2,400 rows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498080" y="3538728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3950208"/>
            <a:ext cx="841248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3968496"/>
            <a:ext cx="2148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Net Inflows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651760" y="3968496"/>
            <a:ext cx="3291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inflows by fund category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035040" y="3968496"/>
            <a:ext cx="1371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~1,560 rows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498080" y="3968496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65760" y="4379976"/>
            <a:ext cx="8412480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398264"/>
            <a:ext cx="2148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Allocation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651760" y="4398264"/>
            <a:ext cx="3291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portfolio sector weights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035040" y="4398264"/>
            <a:ext cx="1371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~6,000 rows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498080" y="4398264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57200" y="47548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is publicly available via amfiindia.com  |  Period: Jan 2022 – Mar 2025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 Pipeline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modular pipeline in Python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371600"/>
            <a:ext cx="1463040" cy="1554480"/>
          </a:xfrm>
          <a:prstGeom prst="roundRect">
            <a:avLst>
              <a:gd name="adj" fmla="val 6250"/>
            </a:avLst>
          </a:prstGeom>
          <a:solidFill>
            <a:srgbClr val="1E3A5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" y="14447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47472" y="18288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7472" y="2514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CSVs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AMFI URLs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10512" y="2148840"/>
            <a:ext cx="228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3063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raw/*.csv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039112" y="1371600"/>
            <a:ext cx="1463040" cy="1554480"/>
          </a:xfrm>
          <a:prstGeom prst="roundRect">
            <a:avLst>
              <a:gd name="adj" fmla="val 6250"/>
            </a:avLst>
          </a:prstGeom>
          <a:solidFill>
            <a:srgbClr val="0D7377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39112" y="14447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039112" y="18288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39112" y="2514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Cast, Null-fill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502152" y="2148840"/>
            <a:ext cx="228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39112" y="3063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clean/*.parquet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730752" y="1371600"/>
            <a:ext cx="1463040" cy="1554480"/>
          </a:xfrm>
          <a:prstGeom prst="roundRect">
            <a:avLst>
              <a:gd name="adj" fmla="val 6250"/>
            </a:avLst>
          </a:prstGeom>
          <a:solidFill>
            <a:srgbClr val="0891B2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730752" y="14447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730752" y="18288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30752" y="2514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Stats, Charts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193792" y="2148840"/>
            <a:ext cx="228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30752" y="3063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charts/*.png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422392" y="1371600"/>
            <a:ext cx="1463040" cy="1554480"/>
          </a:xfrm>
          <a:prstGeom prst="roundRect">
            <a:avLst>
              <a:gd name="adj" fmla="val 625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22392" y="14447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422392" y="18288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22392" y="2514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Sharpe, Beta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Drawdown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885432" y="2148840"/>
            <a:ext cx="228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22392" y="3063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analytics/*.parquet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114032" y="1371600"/>
            <a:ext cx="1463040" cy="1554480"/>
          </a:xfrm>
          <a:prstGeom prst="roundRect">
            <a:avLst>
              <a:gd name="adj" fmla="val 6250"/>
            </a:avLst>
          </a:prstGeom>
          <a:solidFill>
            <a:srgbClr val="B45309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114032" y="14447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114032" y="18288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114032" y="2514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Cohort, T30/B30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Features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114032" y="3063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advanced/*.parquet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65760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Principles: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468880" y="3493008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F0F4F8"/>
          </a:solidFill>
          <a:ln/>
        </p:spPr>
      </p:sp>
      <p:sp>
        <p:nvSpPr>
          <p:cNvPr id="36" name="Text 34"/>
          <p:cNvSpPr/>
          <p:nvPr/>
        </p:nvSpPr>
        <p:spPr>
          <a:xfrm>
            <a:off x="2468880" y="34930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767328" y="3493008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F0F4F8"/>
          </a:solidFill>
          <a:ln/>
        </p:spPr>
      </p:sp>
      <p:sp>
        <p:nvSpPr>
          <p:cNvPr id="38" name="Text 36"/>
          <p:cNvSpPr/>
          <p:nvPr/>
        </p:nvSpPr>
        <p:spPr>
          <a:xfrm>
            <a:off x="3767328" y="34930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065776" y="3493008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F0F4F8"/>
          </a:solidFill>
          <a:ln/>
        </p:spPr>
      </p:sp>
      <p:sp>
        <p:nvSpPr>
          <p:cNvPr id="40" name="Text 38"/>
          <p:cNvSpPr/>
          <p:nvPr/>
        </p:nvSpPr>
        <p:spPr>
          <a:xfrm>
            <a:off x="5065776" y="34930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364224" y="3493008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F0F4F8"/>
          </a:solidFill>
          <a:ln/>
        </p:spPr>
      </p:sp>
      <p:sp>
        <p:nvSpPr>
          <p:cNvPr id="42" name="Text 40"/>
          <p:cNvSpPr/>
          <p:nvPr/>
        </p:nvSpPr>
        <p:spPr>
          <a:xfrm>
            <a:off x="6364224" y="34930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662672" y="3493008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F0F4F8"/>
          </a:solidFill>
          <a:ln/>
        </p:spPr>
      </p:sp>
      <p:sp>
        <p:nvSpPr>
          <p:cNvPr id="44" name="Text 42"/>
          <p:cNvSpPr/>
          <p:nvPr/>
        </p:nvSpPr>
        <p:spPr>
          <a:xfrm>
            <a:off x="7662672" y="34930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(Parquet)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orchestration: run_pipeline.py  |  Config: config.yaml  |  Logs: pipeline.log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Highlights — Growth Story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inflows &amp; folio count tell one consistent narrative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325880"/>
            <a:ext cx="4206240" cy="265176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325880"/>
            <a:ext cx="4206240" cy="2651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0040" y="400507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1: SIP Inflow Trend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4663440" y="400507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2: Industry Folio Count Growth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365760" y="4315968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F0F4F8"/>
          </a:solidFill>
          <a:ln/>
        </p:spPr>
      </p:sp>
      <p:sp>
        <p:nvSpPr>
          <p:cNvPr id="10" name="Text 6"/>
          <p:cNvSpPr/>
          <p:nvPr/>
        </p:nvSpPr>
        <p:spPr>
          <a:xfrm>
            <a:off x="365760" y="4315968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~3x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1417320" y="431596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growth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2022-2026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709160" y="4315968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F0F4F8"/>
          </a:solidFill>
          <a:ln/>
        </p:spPr>
      </p:sp>
      <p:sp>
        <p:nvSpPr>
          <p:cNvPr id="13" name="Text 9"/>
          <p:cNvSpPr/>
          <p:nvPr/>
        </p:nvSpPr>
        <p:spPr>
          <a:xfrm>
            <a:off x="4709160" y="4315968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2x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5760720" y="431596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Folio growth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4 years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Highlights — Who Invests &amp; Where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and sector allocation shape the industry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325880"/>
            <a:ext cx="3200400" cy="27432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325880"/>
            <a:ext cx="2926080" cy="274320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325880"/>
            <a:ext cx="2377440" cy="27432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20040" y="41148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3: Age Distribution</a:t>
            </a:r>
            <a:endParaRPr lang="en-US" sz="800" dirty="0"/>
          </a:p>
        </p:txBody>
      </p:sp>
      <p:sp>
        <p:nvSpPr>
          <p:cNvPr id="9" name="Text 4"/>
          <p:cNvSpPr/>
          <p:nvPr/>
        </p:nvSpPr>
        <p:spPr>
          <a:xfrm>
            <a:off x="3566160" y="41148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6: Sector Allocation</a:t>
            </a:r>
            <a:endParaRPr lang="en-US" sz="800" dirty="0"/>
          </a:p>
        </p:txBody>
      </p:sp>
      <p:sp>
        <p:nvSpPr>
          <p:cNvPr id="10" name="Text 5"/>
          <p:cNvSpPr/>
          <p:nvPr/>
        </p:nvSpPr>
        <p:spPr>
          <a:xfrm>
            <a:off x="6492240" y="41148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7: T30 vs B30</a:t>
            </a:r>
            <a:endParaRPr lang="en-US" sz="800" dirty="0"/>
          </a:p>
        </p:txBody>
      </p:sp>
      <p:sp>
        <p:nvSpPr>
          <p:cNvPr id="11" name="Text 6"/>
          <p:cNvSpPr/>
          <p:nvPr/>
        </p:nvSpPr>
        <p:spPr>
          <a:xfrm>
            <a:off x="457200" y="446227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 of investors are aged 26-35 (largest cohort)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457200" y="458114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Millennials 26-45 represent ~66% of total investors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457200" y="470001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22% + IT 15.3% = 37% of equity AUM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457200" y="481888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T30 cities: 66% | B30 cities: 34% — inclusion is real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 Performance Analytics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Risk-return metrics across three market regimes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80160"/>
            <a:ext cx="5486400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35040" y="137160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126480" y="140817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CAGR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269480" y="13898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~8.5%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126480" y="18470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100025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035040" y="237744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6126480" y="241401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Sharpe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269480" y="23957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Varied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126480" y="28529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fund &amp;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regime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035040" y="338328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6126480" y="341985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 DD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269480" y="34015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&lt;15%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126480" y="38587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2024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phase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20040" y="429768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Market Regimes: COVID Recovery | 2023 Rally | 2024 Corrections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20040" y="4617720"/>
            <a:ext cx="2743200" cy="2926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9" name="Text 16"/>
          <p:cNvSpPr/>
          <p:nvPr/>
        </p:nvSpPr>
        <p:spPr>
          <a:xfrm>
            <a:off x="320040" y="46177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Recovery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200400" y="4617720"/>
            <a:ext cx="2743200" cy="2926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3200400" y="46177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Rally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080760" y="4617720"/>
            <a:ext cx="2743200" cy="2926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0"/>
          <p:cNvSpPr/>
          <p:nvPr/>
        </p:nvSpPr>
        <p:spPr>
          <a:xfrm>
            <a:off x="6080760" y="46177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Corrections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Diversification &amp; Behaviour Insights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correlation + uniform SIP = actionable portfolio guidance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98448"/>
            <a:ext cx="4206240" cy="283464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298448"/>
            <a:ext cx="4206240" cy="2834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0040" y="417880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10: NAV Return Correlation Matrix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4617720" y="417880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8: SIP Amount Distribution by Age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320040" y="4480560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F0F4F8"/>
          </a:solidFill>
          <a:ln/>
        </p:spPr>
      </p:sp>
      <p:sp>
        <p:nvSpPr>
          <p:cNvPr id="10" name="Text 6"/>
          <p:cNvSpPr/>
          <p:nvPr/>
        </p:nvSpPr>
        <p:spPr>
          <a:xfrm>
            <a:off x="429768" y="45079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Cross-Fund Correlation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29768" y="47731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off-diagonal values confirm genuine diversification — 3-4 fund portfolios can capture broad market exposure.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4617720" y="4480560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F0F4F8"/>
          </a:solidFill>
          <a:ln/>
        </p:spPr>
      </p:sp>
      <p:sp>
        <p:nvSpPr>
          <p:cNvPr id="13" name="Text 9"/>
          <p:cNvSpPr/>
          <p:nvPr/>
        </p:nvSpPr>
        <p:spPr>
          <a:xfrm>
            <a:off x="4727448" y="45079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Uniform SIP Amounts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727448" y="47731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SIP ~₹10-20K across ALL age groups. Ticket size is product-driven, not demographic-driven.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AUM &amp; Category Flows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house rankings and category behaviour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80160"/>
            <a:ext cx="8503920" cy="1691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2990088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4: AUM Growth by Fund House (2022-2025)</a:t>
            </a:r>
            <a:endParaRPr lang="en-US" sz="8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246120"/>
            <a:ext cx="7132320" cy="11887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0040" y="4453128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5: Category-Wise Net Inflow Heatmap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320040" y="4709160"/>
            <a:ext cx="8503920" cy="365760"/>
          </a:xfrm>
          <a:prstGeom prst="roundRect">
            <a:avLst>
              <a:gd name="adj" fmla="val 20000"/>
            </a:avLst>
          </a:prstGeom>
          <a:solidFill>
            <a:srgbClr val="F0F4F8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4727448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MF leads at ₹12.5 L Cr  |  Liquid funds dominate category inflows by an order of magnitude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Geographic &amp; SIP Distribution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Pan-India penetration revealed in the data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325880"/>
            <a:ext cx="5486400" cy="306324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25880"/>
            <a:ext cx="2880360" cy="30632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0040" y="44348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11: SIP Amount by State (Top 12)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5943600" y="443484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7: T30 vs B30 Investor Split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320040" y="4709160"/>
            <a:ext cx="8503920" cy="338328"/>
          </a:xfrm>
          <a:prstGeom prst="roundRect">
            <a:avLst>
              <a:gd name="adj" fmla="val 21622"/>
            </a:avLst>
          </a:prstGeom>
          <a:solidFill>
            <a:srgbClr val="F0F4F8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47274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Punjab leads Maharashtra in SIP — SIP adoption is pan-India, not metro-concentrated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&amp; Recommendations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findings, 9 recommendations for 3 audiences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16052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93192" y="1499616"/>
            <a:ext cx="365760" cy="36576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393192" y="1499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145389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inflows ~3x from 2022-2026 — structural, not cyclical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416052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28032" y="1499616"/>
            <a:ext cx="365760" cy="36576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4828032" y="1499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257800" y="145389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Folio count doubled in 4 years — accelerating new investor onboarding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075688"/>
            <a:ext cx="416052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93192" y="2157984"/>
            <a:ext cx="365760" cy="3657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393192" y="2157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211226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Millennials (26-45) are 66% of the investor base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2075688"/>
            <a:ext cx="416052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28032" y="2157984"/>
            <a:ext cx="365760" cy="3657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4828032" y="2157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57800" y="211226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MF dominates AUM; all top-10 grew consistently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2734056"/>
            <a:ext cx="416052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93192" y="2816352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393192" y="2816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" y="277063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funds dominate inflows — institutional parking effect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0040" y="35204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by Audience: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11480" y="38862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AMCs: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783080" y="388620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youth micro-SIP products; expand B30 via digital channels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11480" y="4178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Distributors: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783080" y="417880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fund choice over ticket size; leverage low correlations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11480" y="44714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Regulators: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783080" y="4471416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B30 incentives; monthly demographic disclosures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914400"/>
            <a:ext cx="5486400" cy="5486400"/>
          </a:xfrm>
          <a:prstGeom prst="ellipse">
            <a:avLst/>
          </a:prstGeom>
          <a:solidFill>
            <a:srgbClr val="0D7377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F4A261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Mutual Fund Industry — Analysis 2022-2025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971800"/>
            <a:ext cx="2377440" cy="731520"/>
          </a:xfrm>
          <a:prstGeom prst="roundRect">
            <a:avLst>
              <a:gd name="adj" fmla="val 125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017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Report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3310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Final_Report.pdf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74720" y="2971800"/>
            <a:ext cx="2377440" cy="731520"/>
          </a:xfrm>
          <a:prstGeom prst="roundRect">
            <a:avLst>
              <a:gd name="adj" fmla="val 125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3017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74720" y="3310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github.com/bluestock/mf-capstone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217920" y="2971800"/>
            <a:ext cx="2377440" cy="731520"/>
          </a:xfrm>
          <a:prstGeom prst="roundRect">
            <a:avLst>
              <a:gd name="adj" fmla="val 125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3017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17920" y="3310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amfiindia.com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4069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Bluestock Fintech Data Analytics Division  |  June 2025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sourced from AMFI India. This presentation is for informational purposes only and does not constitute investment advice.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Indian Mutual Fund Industry Analysis 2022-2025</dc:title>
  <dc:subject>PptxGenJS Presentation</dc:subject>
  <dc:creator>Bluestock Fintech</dc:creator>
  <cp:lastModifiedBy>Bluestock Fintech</cp:lastModifiedBy>
  <cp:revision>1</cp:revision>
  <dcterms:created xsi:type="dcterms:W3CDTF">2026-06-18T03:54:34Z</dcterms:created>
  <dcterms:modified xsi:type="dcterms:W3CDTF">2026-06-18T03:54:34Z</dcterms:modified>
</cp:coreProperties>
</file>